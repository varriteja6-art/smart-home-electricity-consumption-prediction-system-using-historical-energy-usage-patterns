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TC"/>
      <p:regular r:id="rId201314"/>
    </p:embeddedFont>
    <p:embeddedFont>
      <p:font typeface="Noto Sans TC Medium"/>
      <p:regular r:id="rId201315"/>
    </p:embeddedFont>
    <p:embeddedFont>
      <p:font typeface="Noto Sans TC SemiBold"/>
      <p:regular r:id="rId201316"/>
    </p:embeddedFont>
    <p:embeddedFont>
      <p:font typeface="Noto Sans TC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department, guide, and academic year 2026-2027 during the viva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why conventional submetering is insufficient: passive monitoring shows past usage, while regression anticipates upcoming peaks.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core project goals: data collection, pattern discovery, feature pipeline, multi-model evaluation, and user-facing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architecture: the five input signals converge into preprocessing, feature extraction, regression, future electricity prediction, and dashboard and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 pipeline: cleaning handles dropped packets and sensor anomalies; feature engineering extracts cyclical signals; temporal split prevents data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candidate regression models without declaring a winner before testing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eight-step operational pipeline. Clarify that 12.5 kWh/day represents an illustrative demo output and not final experimental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dashboard telemetry: actual vs predicted plot, evaluation metrics table awaiting final test values, and real-time load summaries.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scalability: benefits expand from single households to enterprise microgrids and smart-city utilities through IoT and renewable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the presentation by summarizing how predictive ML turns passive metering into proactive energy efficiency, then open the floor for committee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4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4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image" Target="../media/image-3-1.jpeg"/><Relationship Id="rId6" Type="http://schemas.openxmlformats.org/officeDocument/2006/relationships/image" Target="../media/image-3-6.png"/><Relationship Id="rId7" Type="http://schemas.openxmlformats.org/officeDocument/2006/relationships/image" Target="../media/image-3-7.jpeg"/><Relationship Id="rId8" Type="http://schemas.openxmlformats.org/officeDocument/2006/relationships/image" Target="../media/image-3-8.png"/><Relationship Id="rId9" Type="http://schemas.openxmlformats.org/officeDocument/2006/relationships/image" Target="../media/image-3-9.jpeg"/><Relationship Id="rId10" Type="http://schemas.openxmlformats.org/officeDocument/2006/relationships/image" Target="../media/image-3-10.png"/><Relationship Id="rId11" Type="http://schemas.openxmlformats.org/officeDocument/2006/relationships/image" Target="../media/image-3-7.jpe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image" Target="../media/image-8-3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990600"/>
            <a:ext cx="10661383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5000" spc="-50" kern="100" dirty="0">
                <a:solidFill>
                  <a:srgbClr val="FFFFFF"/>
                </a:solidFill>
                <a:latin typeface="Chiron Hei HK SemiBold" pitchFamily="34" charset="0"/>
                <a:ea typeface="Chiron Hei HK SemiBold" pitchFamily="34" charset="-122"/>
                <a:cs typeface="Chiron Hei HK SemiBold" pitchFamily="34" charset="-120"/>
              </a:rPr>
              <a:t>Smart Home Electricity Consumption Prediction System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765156" y="2793901"/>
            <a:ext cx="3518209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4" name="Shape 2"/>
          <p:cNvSpPr/>
          <p:nvPr/>
        </p:nvSpPr>
        <p:spPr>
          <a:xfrm>
            <a:off x="711182" y="4191000"/>
            <a:ext cx="10769331" cy="2457152"/>
          </a:xfrm>
          <a:prstGeom prst="roundRect">
            <a:avLst>
              <a:gd name="adj" fmla="val 8683"/>
            </a:avLst>
          </a:prstGeom>
          <a:solidFill>
            <a:srgbClr val="1D3A50"/>
          </a:solidFill>
          <a:ln/>
        </p:spPr>
      </p:sp>
      <p:sp>
        <p:nvSpPr>
          <p:cNvPr id="5" name="Text 3"/>
          <p:cNvSpPr/>
          <p:nvPr/>
        </p:nvSpPr>
        <p:spPr>
          <a:xfrm>
            <a:off x="939776" y="4368800"/>
            <a:ext cx="50798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STUDENT NAME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39776" y="4682430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DE6E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[Placeholder]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9776" y="5111651"/>
            <a:ext cx="50798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ROLL NUMBER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39776" y="5425281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DE6E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[Placeholder]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9776" y="5854502"/>
            <a:ext cx="50798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39776" y="6168132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DE6E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046" y="4368800"/>
            <a:ext cx="50798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COLLEGE NAME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72046" y="4682430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DE6E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[Placeholder]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72046" y="5111651"/>
            <a:ext cx="50798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PROJECT GUIDE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2046" y="5425281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DE6E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[Placeholder]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72046" y="5854502"/>
            <a:ext cx="50798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ACADEMIC YEAR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72046" y="6168132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DE6E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2026–2027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72691"/>
            <a:ext cx="2560276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930374"/>
            <a:ext cx="614664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85" kern="100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Future demand is harder to see than current usage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185392"/>
            <a:ext cx="6146547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534741"/>
            <a:ext cx="250521" cy="2556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554585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6000" y="2534741"/>
            <a:ext cx="568023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Surging household load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6000" y="2888258"/>
            <a:ext cx="568023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Demand is rising with appliance density and electrification.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9585" y="3450828"/>
            <a:ext cx="250521" cy="2556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3470672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76000" y="3450828"/>
            <a:ext cx="568023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Reactive monitoring limit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6000" y="3804345"/>
            <a:ext cx="568023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Monitoring mainly shows current or past consumption, not future demand.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9585" y="4624685"/>
            <a:ext cx="250521" cy="2556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4644529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76000" y="4624685"/>
            <a:ext cx="568023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Multi-variable dependencies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76000" y="4978202"/>
            <a:ext cx="568023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Future load depends on appliance duty cycles, occupancy, weather, hour, and season.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09585" y="5798542"/>
            <a:ext cx="250521" cy="2556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5818386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76000" y="5798542"/>
            <a:ext cx="568023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Predictive ML solution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76000" y="6152059"/>
            <a:ext cx="5680231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Historical energy data plus machine-learning regression forecasts demand.</a:t>
            </a:r>
            <a:endParaRPr lang="en-US" sz="14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20291"/>
            <a:ext cx="2547675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PROJECT OBJECTIVES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57189" y="777974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85" kern="100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The system turns usage history into actionable forecasts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575296"/>
            <a:ext cx="11277318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924645"/>
            <a:ext cx="3682908" cy="189458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051645"/>
            <a:ext cx="431789" cy="43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2607270"/>
            <a:ext cx="337811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Analyze usage history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09585" y="3087787"/>
            <a:ext cx="337811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Analyze historical electricity consumption.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493" y="1924645"/>
            <a:ext cx="3606710" cy="189458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889" y="2051645"/>
            <a:ext cx="431789" cy="431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44889" y="2607270"/>
            <a:ext cx="330191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Usage patterns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4444889" y="3087787"/>
            <a:ext cx="330191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Identify household energy-usage patterns.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599" y="1924645"/>
            <a:ext cx="3682908" cy="1894582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995" y="2051645"/>
            <a:ext cx="431789" cy="4318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03995" y="2607270"/>
            <a:ext cx="337811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16" name="Text 8"/>
          <p:cNvSpPr/>
          <p:nvPr/>
        </p:nvSpPr>
        <p:spPr>
          <a:xfrm>
            <a:off x="8203995" y="3087787"/>
            <a:ext cx="337811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Process smart-home energy data and engineer useful features.</a:t>
            </a:r>
            <a:endParaRPr lang="en-US" sz="17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89" y="3971627"/>
            <a:ext cx="3682908" cy="2196802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5" y="4098627"/>
            <a:ext cx="431789" cy="4318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09585" y="4654252"/>
            <a:ext cx="337811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Regression models</a:t>
            </a:r>
            <a:endParaRPr lang="en-US" sz="1900" dirty="0"/>
          </a:p>
        </p:txBody>
      </p:sp>
      <p:sp>
        <p:nvSpPr>
          <p:cNvPr id="20" name="Text 10"/>
          <p:cNvSpPr/>
          <p:nvPr/>
        </p:nvSpPr>
        <p:spPr>
          <a:xfrm>
            <a:off x="609585" y="5134769"/>
            <a:ext cx="337811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Compare regression models to predict future consumption.</a:t>
            </a:r>
            <a:endParaRPr lang="en-US" sz="17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493" y="3971627"/>
            <a:ext cx="3606710" cy="2196802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4889" y="4098627"/>
            <a:ext cx="431789" cy="4318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444889" y="4654252"/>
            <a:ext cx="3301917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Multi-horizon trends</a:t>
            </a:r>
            <a:endParaRPr lang="en-US" sz="1900" dirty="0"/>
          </a:p>
        </p:txBody>
      </p:sp>
      <p:sp>
        <p:nvSpPr>
          <p:cNvPr id="24" name="Text 12"/>
          <p:cNvSpPr/>
          <p:nvPr/>
        </p:nvSpPr>
        <p:spPr>
          <a:xfrm>
            <a:off x="4444889" y="5134769"/>
            <a:ext cx="330191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Display daily, weekly, and monthly trends.</a:t>
            </a:r>
            <a:endParaRPr lang="en-US" sz="17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1599" y="3971627"/>
            <a:ext cx="3682908" cy="2196802"/>
          </a:xfrm>
          <a:prstGeom prst="rect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3995" y="4098627"/>
            <a:ext cx="431789" cy="43180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8203995" y="4654252"/>
            <a:ext cx="337811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Sustainable management</a:t>
            </a:r>
            <a:endParaRPr lang="en-US" sz="1900" dirty="0"/>
          </a:p>
        </p:txBody>
      </p:sp>
      <p:sp>
        <p:nvSpPr>
          <p:cNvPr id="28" name="Text 14"/>
          <p:cNvSpPr/>
          <p:nvPr/>
        </p:nvSpPr>
        <p:spPr>
          <a:xfrm>
            <a:off x="8203995" y="5134769"/>
            <a:ext cx="337811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Support lower energy usage, lower costs, and sustainable energy management.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6125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85" kern="100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Multiple signals feed one prediction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958578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307927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INPUT SIGNALS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585" y="2681288"/>
            <a:ext cx="1950691" cy="1164233"/>
          </a:xfrm>
          <a:prstGeom prst="roundRect">
            <a:avLst>
              <a:gd name="adj" fmla="val 982"/>
            </a:avLst>
          </a:prstGeom>
          <a:noFill/>
          <a:ln w="25399">
            <a:solidFill>
              <a:srgbClr val="9940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2935288"/>
            <a:ext cx="1442704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Historical energy data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864969" y="2681288"/>
            <a:ext cx="1950691" cy="1164233"/>
          </a:xfrm>
          <a:prstGeom prst="roundRect">
            <a:avLst>
              <a:gd name="adj" fmla="val 982"/>
            </a:avLst>
          </a:prstGeom>
          <a:noFill/>
          <a:ln w="25399">
            <a:solidFill>
              <a:srgbClr val="9940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18963" y="2935288"/>
            <a:ext cx="1442704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Appliance usage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120353" y="2681288"/>
            <a:ext cx="1950889" cy="1164233"/>
          </a:xfrm>
          <a:prstGeom prst="roundRect">
            <a:avLst>
              <a:gd name="adj" fmla="val 982"/>
            </a:avLst>
          </a:prstGeom>
          <a:noFill/>
          <a:ln w="25399">
            <a:solidFill>
              <a:srgbClr val="9940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74347" y="2935288"/>
            <a:ext cx="144290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Occupancy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75936" y="2681288"/>
            <a:ext cx="1950691" cy="1164233"/>
          </a:xfrm>
          <a:prstGeom prst="roundRect">
            <a:avLst>
              <a:gd name="adj" fmla="val 982"/>
            </a:avLst>
          </a:prstGeom>
          <a:noFill/>
          <a:ln w="25399">
            <a:solidFill>
              <a:srgbClr val="9940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9929" y="2935288"/>
            <a:ext cx="1442704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Weather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1320" y="2681288"/>
            <a:ext cx="1950790" cy="1164233"/>
          </a:xfrm>
          <a:prstGeom prst="roundRect">
            <a:avLst>
              <a:gd name="adj" fmla="val 982"/>
            </a:avLst>
          </a:prstGeom>
          <a:noFill/>
          <a:ln w="25399">
            <a:solidFill>
              <a:srgbClr val="9940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85314" y="2935288"/>
            <a:ext cx="1442803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Date/time signals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04792" y="4036020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↓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585" y="4416326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PREDICTION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585" y="4789686"/>
            <a:ext cx="734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9585" y="5091311"/>
            <a:ext cx="1950691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Data preprocessing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864969" y="4789686"/>
            <a:ext cx="734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864969" y="5091311"/>
            <a:ext cx="1950691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Feature extraction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120353" y="4789686"/>
            <a:ext cx="734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120353" y="5091311"/>
            <a:ext cx="1950889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Machine-learning regression model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375936" y="4789686"/>
            <a:ext cx="734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75936" y="5091311"/>
            <a:ext cx="1950691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Future electricity prediction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631320" y="4789686"/>
            <a:ext cx="7348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631320" y="5091311"/>
            <a:ext cx="1950790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Dashboard and reports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96491"/>
            <a:ext cx="3198236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DATA PREPARATION PIPELINE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854174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85" kern="100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Clean, contextual data makes the model usable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502370"/>
            <a:ext cx="1097252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000" spc="-50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Raw Data → Cleaned Data → Feature Engineering → Model Input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127052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2476401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476401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585" y="2779216"/>
            <a:ext cx="2400240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2928342"/>
            <a:ext cx="240024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Ingest Raw Inputs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09585" y="3408859"/>
            <a:ext cx="2400240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Aggregated smart-meter readings, active appliance loads, ambient temperature, occupancy states, and calendar attributes.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467013" y="2476401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67013" y="2476401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467013" y="2779216"/>
            <a:ext cx="2400240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14" name="Text 12"/>
          <p:cNvSpPr/>
          <p:nvPr/>
        </p:nvSpPr>
        <p:spPr>
          <a:xfrm>
            <a:off x="3467013" y="2928342"/>
            <a:ext cx="240024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Clean &amp; Impute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467013" y="3408859"/>
            <a:ext cx="2400240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Deduplicate sensor timestamps, handle dropped telemetry via interpolation, and detect abnormal voltage/wattage spikes.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24442" y="2476401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2" y="2476401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324442" y="2779216"/>
            <a:ext cx="2400240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19" name="Text 17"/>
          <p:cNvSpPr/>
          <p:nvPr/>
        </p:nvSpPr>
        <p:spPr>
          <a:xfrm>
            <a:off x="6324442" y="2928342"/>
            <a:ext cx="240024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Engineer Features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24442" y="3408859"/>
            <a:ext cx="2400240" cy="1288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Decompose timestamps into cyclical sine/cosine hours, compute rolling consumption averages, and encode seasonal indicators.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181870" y="2476401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81870" y="2476401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181870" y="2779216"/>
            <a:ext cx="2400240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24" name="Text 22"/>
          <p:cNvSpPr/>
          <p:nvPr/>
        </p:nvSpPr>
        <p:spPr>
          <a:xfrm>
            <a:off x="9181870" y="2928342"/>
            <a:ext cx="240024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Scale &amp; Partition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181870" y="3408859"/>
            <a:ext cx="2400240" cy="1546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Apply standard min-max scaling across numerical features, then split chronological records into strict training and testing partitions.</a:t>
            </a:r>
            <a:endParaRPr lang="en-US" sz="14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158680"/>
            <a:ext cx="3454314" cy="135939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25479" y="5298380"/>
            <a:ext cx="323841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RAW DATA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5479" y="5605066"/>
            <a:ext cx="302252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Noisy meter ticks, missing weather records, unaligned timestamps</a:t>
            </a:r>
            <a:endParaRPr lang="en-US" sz="145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691" y="5158680"/>
            <a:ext cx="3454314" cy="135939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584585" y="5298380"/>
            <a:ext cx="323841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584585" y="5605066"/>
            <a:ext cx="302252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Interpolation, z-score filtering, periodic trigonometric transformations</a:t>
            </a:r>
            <a:endParaRPr lang="en-US" sz="14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5158680"/>
            <a:ext cx="3454314" cy="135939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343691" y="5298380"/>
            <a:ext cx="323841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MODEL INPUT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8343691" y="5605066"/>
            <a:ext cx="3022524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Normalized feature matrix partitioned chronologically for zero lookahead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89521"/>
            <a:ext cx="213424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MODELING SUITE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1447205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85" kern="100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Model comparison keeps the choice evidence-based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244527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593876"/>
            <a:ext cx="2072628" cy="2643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4681" y="2849066"/>
            <a:ext cx="147594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BASELINE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4681" y="3206750"/>
            <a:ext cx="174243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Linear Regression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4681" y="4015383"/>
            <a:ext cx="1742436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Baseline relationship between inputs and demand.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510" y="2593876"/>
            <a:ext cx="2072628" cy="26430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99605" y="2849066"/>
            <a:ext cx="118880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RULES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999605" y="3206750"/>
            <a:ext cx="174243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Decision Tree Regression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2999605" y="4015383"/>
            <a:ext cx="174243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Rule-based estimates.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434" y="2593876"/>
            <a:ext cx="2072727" cy="26430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24530" y="2849066"/>
            <a:ext cx="156206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ENSEMBLE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224530" y="3206750"/>
            <a:ext cx="1742535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Random Forest Regression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5224530" y="4015383"/>
            <a:ext cx="174253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Combines trees for stable predictions.</a:t>
            </a:r>
            <a:endParaRPr lang="en-US" sz="14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458" y="2593876"/>
            <a:ext cx="2072628" cy="26430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49554" y="2849066"/>
            <a:ext cx="130915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KERNEL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449554" y="3206750"/>
            <a:ext cx="1742436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Support Vector Regression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7449554" y="4015383"/>
            <a:ext cx="1742436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Models complex relationships.</a:t>
            </a:r>
            <a:endParaRPr lang="en-US" sz="14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383" y="2593876"/>
            <a:ext cx="2072727" cy="26430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74479" y="2849066"/>
            <a:ext cx="1547377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BOOSTING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9674479" y="3206750"/>
            <a:ext cx="1742535" cy="984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Gradient Boosting / XGBoost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9674479" y="4343499"/>
            <a:ext cx="1742535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Suited to structured energy datasets.</a:t>
            </a:r>
            <a:endParaRPr lang="en-US" sz="14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5414764"/>
            <a:ext cx="10972526" cy="46920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25479" y="5554464"/>
            <a:ext cx="1075663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 not declare a best model until project testing is complete.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96491"/>
            <a:ext cx="271445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WORKFLOW EXECUTION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854174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85" kern="100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Training converts historical patterns into a forecast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5149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000845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000845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2303661"/>
            <a:ext cx="2590735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2409031"/>
            <a:ext cx="259073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Historical dataset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05112" y="2000845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505112" y="2000845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05112" y="2303661"/>
            <a:ext cx="2438339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12" name="Text 10"/>
          <p:cNvSpPr/>
          <p:nvPr/>
        </p:nvSpPr>
        <p:spPr>
          <a:xfrm>
            <a:off x="3505112" y="2409031"/>
            <a:ext cx="243833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Data preprocessing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48244" y="2000845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2000845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48244" y="2303661"/>
            <a:ext cx="2438339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244" y="2409031"/>
            <a:ext cx="243833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Feature selection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991375" y="2000845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991375" y="2000845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991375" y="2303661"/>
            <a:ext cx="2590735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20" name="Text 18"/>
          <p:cNvSpPr/>
          <p:nvPr/>
        </p:nvSpPr>
        <p:spPr>
          <a:xfrm>
            <a:off x="8991375" y="2409031"/>
            <a:ext cx="259073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Train/test split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09585" y="3041948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09585" y="3041948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09585" y="3344763"/>
            <a:ext cx="2590735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24" name="Text 22"/>
          <p:cNvSpPr/>
          <p:nvPr/>
        </p:nvSpPr>
        <p:spPr>
          <a:xfrm>
            <a:off x="609585" y="3450134"/>
            <a:ext cx="259073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Model training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3505112" y="3041948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505112" y="3041948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06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3505112" y="3344763"/>
            <a:ext cx="2438339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28" name="Text 26"/>
          <p:cNvSpPr/>
          <p:nvPr/>
        </p:nvSpPr>
        <p:spPr>
          <a:xfrm>
            <a:off x="3505112" y="3450134"/>
            <a:ext cx="243833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Model testing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6248244" y="3041948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248244" y="3041948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07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248244" y="3344763"/>
            <a:ext cx="2438339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32" name="Text 30"/>
          <p:cNvSpPr/>
          <p:nvPr/>
        </p:nvSpPr>
        <p:spPr>
          <a:xfrm>
            <a:off x="6248244" y="3450134"/>
            <a:ext cx="2438339" cy="984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Future energy-consumption prediction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8991375" y="3041948"/>
            <a:ext cx="250521" cy="21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991375" y="3041948"/>
            <a:ext cx="8601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FFB18F"/>
                </a:solidFill>
                <a:latin typeface="Noto Sans TC SemiBold" pitchFamily="34" charset="0"/>
                <a:ea typeface="Noto Sans TC SemiBold" pitchFamily="34" charset="-122"/>
                <a:cs typeface="Noto Sans TC SemiBold" pitchFamily="34" charset="-120"/>
              </a:rPr>
              <a:t>08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991375" y="3344763"/>
            <a:ext cx="2590735" cy="19050"/>
          </a:xfrm>
          <a:prstGeom prst="rect">
            <a:avLst/>
          </a:prstGeom>
          <a:solidFill>
            <a:srgbClr val="FFD27A"/>
          </a:solidFill>
          <a:ln/>
        </p:spPr>
      </p:sp>
      <p:sp>
        <p:nvSpPr>
          <p:cNvPr id="36" name="Text 34"/>
          <p:cNvSpPr/>
          <p:nvPr/>
        </p:nvSpPr>
        <p:spPr>
          <a:xfrm>
            <a:off x="8991375" y="3450134"/>
            <a:ext cx="259073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Dashboard</a:t>
            </a:r>
            <a:endParaRPr lang="en-US" sz="19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613400"/>
            <a:ext cx="10972526" cy="8636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76278" y="5778500"/>
            <a:ext cx="104391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DE6EE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Sample/demo output only: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Predicted Energy Usage — </a:t>
            </a:r>
            <a:pPr algn="l" indent="0" marL="0">
              <a:lnSpc>
                <a:spcPct val="117000"/>
              </a:lnSpc>
              <a:buNone/>
            </a:pPr>
            <a:r>
              <a:rPr lang="en-US" sz="30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12.5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kWh/day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330200"/>
            <a:ext cx="3105668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FFB1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8263" y="394891"/>
            <a:ext cx="345629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ENERGY ANALYTICS DASHBOARD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786" y="752574"/>
            <a:ext cx="11074123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85" kern="100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The dashboard makes model output easy to interpret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58786" y="1549896"/>
            <a:ext cx="11074123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1899245"/>
            <a:ext cx="6461559" cy="37286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281" y="2089745"/>
            <a:ext cx="627106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ACTUAL VS PREDICTED CONSUMPTION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281" y="2396430"/>
          <a:ext cx="6080568" cy="914400"/>
        </p:xfrm>
        <a:graphic>
          <a:graphicData uri="http://schemas.openxmlformats.org/drawingml/2006/table">
            <a:tbl>
              <a:tblPr/>
              <a:tblGrid>
                <a:gridCol w="1824091"/>
                <a:gridCol w="2128189"/>
                <a:gridCol w="2128288"/>
              </a:tblGrid>
              <a:tr h="7897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6F3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Time period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6F3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Actual consumption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6F3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Predicted consumption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[Period 1]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[Period 2]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[Period 3]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[Period 4]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49281" y="3173492"/>
            <a:ext cx="6080568" cy="12700"/>
          </a:xfrm>
          <a:prstGeom prst="rect">
            <a:avLst/>
          </a:prstGeom>
          <a:solidFill>
            <a:srgbClr val="34607C"/>
          </a:solidFill>
          <a:ln/>
        </p:spPr>
      </p:sp>
      <p:sp>
        <p:nvSpPr>
          <p:cNvPr id="10" name="Shape 6"/>
          <p:cNvSpPr/>
          <p:nvPr/>
        </p:nvSpPr>
        <p:spPr>
          <a:xfrm>
            <a:off x="749281" y="3661041"/>
            <a:ext cx="6080568" cy="12700"/>
          </a:xfrm>
          <a:prstGeom prst="rect">
            <a:avLst/>
          </a:prstGeom>
          <a:solidFill>
            <a:srgbClr val="34607C"/>
          </a:solidFill>
          <a:ln/>
        </p:spPr>
      </p:sp>
      <p:sp>
        <p:nvSpPr>
          <p:cNvPr id="11" name="Shape 7"/>
          <p:cNvSpPr/>
          <p:nvPr/>
        </p:nvSpPr>
        <p:spPr>
          <a:xfrm>
            <a:off x="749281" y="4148590"/>
            <a:ext cx="6080568" cy="12700"/>
          </a:xfrm>
          <a:prstGeom prst="rect">
            <a:avLst/>
          </a:prstGeom>
          <a:solidFill>
            <a:srgbClr val="34607C"/>
          </a:solidFill>
          <a:ln/>
        </p:spPr>
      </p:sp>
      <p:sp>
        <p:nvSpPr>
          <p:cNvPr id="12" name="Shape 8"/>
          <p:cNvSpPr/>
          <p:nvPr/>
        </p:nvSpPr>
        <p:spPr>
          <a:xfrm>
            <a:off x="749281" y="4636139"/>
            <a:ext cx="6080568" cy="12700"/>
          </a:xfrm>
          <a:prstGeom prst="rect">
            <a:avLst/>
          </a:prstGeom>
          <a:solidFill>
            <a:srgbClr val="34607C"/>
          </a:solidFill>
          <a:ln/>
        </p:spPr>
      </p:sp>
      <p:sp>
        <p:nvSpPr>
          <p:cNvPr id="13" name="Text 9"/>
          <p:cNvSpPr/>
          <p:nvPr/>
        </p:nvSpPr>
        <p:spPr>
          <a:xfrm>
            <a:off x="749281" y="5247580"/>
            <a:ext cx="627106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Placeholder comparison · Replace with measured test period data</a:t>
            </a:r>
            <a:endParaRPr lang="en-US" sz="11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038" y="1899245"/>
            <a:ext cx="4307871" cy="37286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15533" y="2089745"/>
            <a:ext cx="411737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EVALUATION METRICS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15533" y="2396430"/>
          <a:ext cx="3926881" cy="914400"/>
        </p:xfrm>
        <a:graphic>
          <a:graphicData uri="http://schemas.openxmlformats.org/drawingml/2006/table">
            <a:tbl>
              <a:tblPr/>
              <a:tblGrid>
                <a:gridCol w="1374344"/>
                <a:gridCol w="2552537"/>
              </a:tblGrid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6F3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MAE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[Insert 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6F3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MSE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[Insert 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6F3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RMSE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[Insert 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748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6F3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R² Score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DDE6EE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[Insert value]</a:t>
                      </a:r>
                      <a:endParaRPr lang="en-US" sz="17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61921" marR="161921" marT="86358" marB="8635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" name="Shape 11"/>
          <p:cNvSpPr/>
          <p:nvPr/>
        </p:nvSpPr>
        <p:spPr>
          <a:xfrm>
            <a:off x="7515533" y="2871280"/>
            <a:ext cx="3926881" cy="12700"/>
          </a:xfrm>
          <a:prstGeom prst="rect">
            <a:avLst/>
          </a:prstGeom>
          <a:solidFill>
            <a:srgbClr val="34607C"/>
          </a:solidFill>
          <a:ln/>
        </p:spPr>
      </p:sp>
      <p:sp>
        <p:nvSpPr>
          <p:cNvPr id="18" name="Shape 12"/>
          <p:cNvSpPr/>
          <p:nvPr/>
        </p:nvSpPr>
        <p:spPr>
          <a:xfrm>
            <a:off x="7515533" y="3358828"/>
            <a:ext cx="3926881" cy="12700"/>
          </a:xfrm>
          <a:prstGeom prst="rect">
            <a:avLst/>
          </a:prstGeom>
          <a:solidFill>
            <a:srgbClr val="34607C"/>
          </a:solidFill>
          <a:ln/>
        </p:spPr>
      </p:sp>
      <p:sp>
        <p:nvSpPr>
          <p:cNvPr id="19" name="Shape 13"/>
          <p:cNvSpPr/>
          <p:nvPr/>
        </p:nvSpPr>
        <p:spPr>
          <a:xfrm>
            <a:off x="7515533" y="3846377"/>
            <a:ext cx="3926881" cy="12700"/>
          </a:xfrm>
          <a:prstGeom prst="rect">
            <a:avLst/>
          </a:prstGeom>
          <a:solidFill>
            <a:srgbClr val="34607C"/>
          </a:solidFill>
          <a:ln/>
        </p:spPr>
      </p:sp>
      <p:sp>
        <p:nvSpPr>
          <p:cNvPr id="20" name="Text 14"/>
          <p:cNvSpPr/>
          <p:nvPr/>
        </p:nvSpPr>
        <p:spPr>
          <a:xfrm>
            <a:off x="7515533" y="4460974"/>
            <a:ext cx="411737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7" kern="100" dirty="0">
                <a:solidFill>
                  <a:srgbClr val="C9D8E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Project results reserved for verified laboratory readings</a:t>
            </a:r>
            <a:endParaRPr lang="en-US" sz="11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5754886"/>
            <a:ext cx="2654234" cy="9015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1182" y="5907286"/>
            <a:ext cx="25018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CURRENT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11182" y="6175871"/>
            <a:ext cx="234944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[Value] kW</a:t>
            </a:r>
            <a:endParaRPr lang="en-US" sz="19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416" y="5754886"/>
            <a:ext cx="2654234" cy="90150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517812" y="5907286"/>
            <a:ext cx="25018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DAILY FORECAST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3517812" y="6175871"/>
            <a:ext cx="234944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[Value] kWh</a:t>
            </a:r>
            <a:endParaRPr lang="en-US" sz="19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046" y="5754886"/>
            <a:ext cx="2654234" cy="90150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324442" y="5907286"/>
            <a:ext cx="25018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WEEKLY TREND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324442" y="6175871"/>
            <a:ext cx="234944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[Value] kWh</a:t>
            </a:r>
            <a:endParaRPr lang="en-US" sz="1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675" y="5754886"/>
            <a:ext cx="2654234" cy="90150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131072" y="5907286"/>
            <a:ext cx="25018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48" kern="100" dirty="0">
                <a:solidFill>
                  <a:srgbClr val="C9D8E4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MONTHLY USAGE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9131072" y="6175871"/>
            <a:ext cx="2349441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[Value] kWh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21891"/>
            <a:ext cx="242960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IMPACT &amp; HORIZONS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58786" y="879574"/>
            <a:ext cx="7061023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85" kern="100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From smart homes to smarter energy systems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2134592"/>
            <a:ext cx="7060924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2483941"/>
            <a:ext cx="337811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Key Advantages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58786" y="2964458"/>
            <a:ext cx="337811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Forecast demand, reduce wastage and lower costs, and support informed decisions.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41694" y="2483941"/>
            <a:ext cx="3378115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Applications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241694" y="2964458"/>
            <a:ext cx="3378115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Smart homes, smart buildings, utilities, energy-management systems, smart cities, and research.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58786" y="4535289"/>
            <a:ext cx="7061023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900" spc="-47" kern="100" dirty="0">
                <a:solidFill>
                  <a:srgbClr val="DDE6EE"/>
                </a:solidFill>
                <a:latin typeface="Chiron Hei HK Medium" pitchFamily="34" charset="0"/>
                <a:ea typeface="Chiron Hei HK Medium" pitchFamily="34" charset="-122"/>
                <a:cs typeface="Chiron Hei HK Medium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58786" y="5015805"/>
            <a:ext cx="7061023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IoT smart-meter integration, real-time prediction, bill prediction, automatic appliance control, solar integration, mobile app, and AI energy-saving recommendations.</a:t>
            </a:r>
            <a:endParaRPr lang="en-US" sz="1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558800"/>
            <a:ext cx="1430004" cy="336649"/>
          </a:xfrm>
          <a:prstGeom prst="roundRect">
            <a:avLst>
              <a:gd name="adj" fmla="val 3395"/>
            </a:avLst>
          </a:prstGeom>
          <a:noFill/>
          <a:ln w="6350">
            <a:solidFill>
              <a:srgbClr val="FFB1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9062" y="623491"/>
            <a:ext cx="178063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54" kern="100" dirty="0">
                <a:solidFill>
                  <a:srgbClr val="FFB18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585" y="1022449"/>
            <a:ext cx="6045049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b="1" spc="-85" kern="100" dirty="0">
                <a:solidFill>
                  <a:srgbClr val="F6F3EE"/>
                </a:solidFill>
                <a:latin typeface="Chiron Hei HK Bold" pitchFamily="34" charset="0"/>
                <a:ea typeface="Chiron Hei HK Bold" pitchFamily="34" charset="-122"/>
                <a:cs typeface="Chiron Hei HK Bold" pitchFamily="34" charset="-120"/>
              </a:rPr>
              <a:t>Prediction supports more efficient everyday energy use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277467"/>
            <a:ext cx="6045049" cy="31651"/>
          </a:xfrm>
          <a:prstGeom prst="roundRect">
            <a:avLst>
              <a:gd name="adj" fmla="val 49998"/>
            </a:avLst>
          </a:prstGeom>
          <a:solidFill>
            <a:srgbClr val="34607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626816"/>
            <a:ext cx="6045049" cy="230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system uses historical energy data and machine-learning techniques to forecast household electricity consumption.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By combining appliance usage, occupancy, weather, time, and seasonal patterns, it helps users understand trends, reduce unnecessary usage, lower costs, and improve energy efficiency.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5110659"/>
            <a:ext cx="6045049" cy="739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5200" spc="-52" kern="100" dirty="0">
                <a:solidFill>
                  <a:srgbClr val="FFD27A"/>
                </a:solidFill>
                <a:latin typeface="Chiron Hei HK SemiBold" pitchFamily="34" charset="0"/>
                <a:ea typeface="Chiron Hei HK SemiBold" pitchFamily="34" charset="-122"/>
                <a:cs typeface="Chiron Hei HK SemiBold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09585" y="6114355"/>
            <a:ext cx="665463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DDE6E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Questions?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73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2026-10-03T04:57:25Z</dcterms:created>
  <dcterms:modified xsi:type="dcterms:W3CDTF">2026-10-03T04:57:25Z</dcterms:modified>
</cp:coreProperties>
</file>